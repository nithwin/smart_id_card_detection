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1645920"/>
            <a:ext cx="48764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Smart ID Card Detection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0D4FF"/>
                </a:solidFill>
                <a:latin typeface="Segoe UI"/>
              </a:rPr>
              <a:t>and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Using Deep Learning and 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023360"/>
            <a:ext cx="3047695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Vinoparkavi D  •  Mythily V  •  Dharun Raj R  •  Deepika Y  •  Nithwin V 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Department of Computer Science and Engineering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Nandha Engineering College, Erode,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760720"/>
            <a:ext cx="3962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Segoe UI"/>
              </a:rPr>
              <a:t>IEEE CONFERENCE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Background &amp;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Why automated identity verification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Identity verification is a critical security checkpoint across banking,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education, and government institutions worldwide.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Manual verification remains the dominant protocol despite its known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inefficiencies and error-prone nature.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Rapid advancements in AI, particularly Convolutional Neural Networks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(CNNs), have demonstrated superhuman pattern recognition capabilities.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OCR systems have evolved to extract text from challenging sources,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including damaged documents and micro-printed text.</a:t>
            </a:r>
          </a:p>
        </p:txBody>
      </p:sp>
      <p:pic>
        <p:nvPicPr>
          <p:cNvPr id="7" name="Picture 6" descr="pipeline_architecture_1775277428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Challenge: Manual ID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Critical bottlenecks in current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1828800"/>
          </a:xfrm>
          <a:prstGeom prst="rect">
            <a:avLst/>
          </a:prstGeom>
          <a:solidFill>
            <a:srgbClr val="1A23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4688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D4FF"/>
                </a:solidFill>
                <a:latin typeface="Segoe UI"/>
              </a:rPr>
              <a:t>2–5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Average verification
time per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468880" cy="1828800"/>
          </a:xfrm>
          <a:prstGeom prst="rect">
            <a:avLst/>
          </a:prstGeom>
          <a:solidFill>
            <a:srgbClr val="1A23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59E0B"/>
                </a:solidFill>
                <a:latin typeface="Segoe UI"/>
              </a:rPr>
              <a:t>15–20%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Human error rate
under high volume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468880" cy="1828800"/>
          </a:xfrm>
          <a:prstGeom prst="rect">
            <a:avLst/>
          </a:prstGeom>
          <a:solidFill>
            <a:srgbClr val="1A233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4688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7C3AED"/>
                </a:solidFill>
                <a:latin typeface="Segoe UI"/>
              </a:rPr>
              <a:t>90–180s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Peak-hour delay
per individual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828800"/>
            <a:ext cx="2468880" cy="1828800"/>
          </a:xfrm>
          <a:prstGeom prst="rect">
            <a:avLst/>
          </a:prstGeom>
          <a:solidFill>
            <a:srgbClr val="1A2332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46888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4A90D9"/>
                </a:solidFill>
                <a:latin typeface="Segoe UI"/>
              </a:rPr>
              <a:t>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Inconsistent judgment
across 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▸  Errors go both ways — genuine IDs get rejected, fake IDs get accepted.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▸  Security risks compound with fatigue, poor lighting, and inconsistent judgment.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Limitations of Existing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Why current commercial systems fall 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☁️  Cloud Dependency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Most solutions require constant internet connectivity,
making them unreliable in areas with poor network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008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💰  High Operational Costs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Specialized hardware, premium APIs, and per-use pricing
create barriers for smaller organizations with limited budgets.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2452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📋  No Universal Standard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ID cards vary dramatically in size, orientation, material,
and layout across states, organizations, and countries.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5896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492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🔆  Environmental Sensitivity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Performance degrades severely under inconsistent lighting,
odd camera angles, and background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Our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 fully offline, multi-stage AI verification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Integrated Multi-Stage Pipeline combining YOLOv5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detection, template-based OCR, and FaceNet recognition.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Runs entirely offline on standard computing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hardware — no cloud, no special equipment needed.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Processes complete verifications in under 2 seconds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with accuracy above 94% across all components.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Handles 12 different ID card formats with automatic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lighting adaptation and built-in anti-spoofing.</a:t>
            </a:r>
          </a:p>
        </p:txBody>
      </p:sp>
      <p:pic>
        <p:nvPicPr>
          <p:cNvPr id="7" name="Picture 6" descr="yolo_id_card_1775276953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System Architecture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End-to-end processing pipeline — under 2 seconds</a:t>
            </a:r>
          </a:p>
        </p:txBody>
      </p:sp>
      <p:pic>
        <p:nvPicPr>
          <p:cNvPr id="6" name="Picture 5" descr="pipeline_architecture_1775277428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Scene Capture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Live webcam video stream analyzed frame by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14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Card Detection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YOLOv5 identifies and extracts ID card region at 25-30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Correction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Perspective correction and image enhancement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434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Parallel OCR + Face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Template-based text extraction runs alongside FaceNet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394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Final Verdict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Pass/Fail decision with confidence scores displayed via GUI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Dataset Construction &amp;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Building a robust detection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D4FF"/>
                </a:solidFill>
                <a:latin typeface="Segoe UI"/>
              </a:rPr>
              <a:t>15,000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Total training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D4FF"/>
                </a:solidFill>
                <a:latin typeface="Segoe UI"/>
              </a:rPr>
              <a:t>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54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Synthetic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D4FF"/>
                </a:solidFill>
                <a:latin typeface="Segoe UI"/>
              </a:rPr>
              <a:t>7,000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26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Real campus captures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C3AED"/>
                </a:solidFill>
                <a:latin typeface="Segoe UI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Training epochs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C3AED"/>
                </a:solidFill>
                <a:latin typeface="Segoe UI"/>
              </a:rPr>
              <a:t>640×640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54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Input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5029200" cy="1097280"/>
          </a:xfrm>
          <a:prstGeom prst="rect">
            <a:avLst/>
          </a:prstGeom>
          <a:solidFill>
            <a:srgbClr val="1A233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C3AED"/>
                </a:solidFill>
                <a:latin typeface="Segoe UI"/>
              </a:rPr>
              <a:t>18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26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Training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Data Augmentation: ±15° rotation  •  0.8–1.2× zoom  •  ±30% brightness  •  Mosaic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Card Detection: YOLOv5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Real-time object detection for ID card 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YOLOv5 chosen for optimal balance of real-time speed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and detection precision — single-pass architecture.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Trained for 100 epochs with Adam optimizer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(β₁=0.9, β₂=0.999), learning rate 0.001.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Final Performance Metrics: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•  mAP@0.5:  96.8%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•  Precision: 94.7%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•  Recall:    97.2%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Processing speed: 25–30 FPS on standard hardware.</a:t>
            </a:r>
          </a:p>
        </p:txBody>
      </p:sp>
      <p:pic>
        <p:nvPicPr>
          <p:cNvPr id="7" name="Picture 6" descr="yolo_id_card_1775276953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Template-Based OCR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Extensible JSON-driven text recognition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Innovative JSON configuration system replaces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hardcoded ROI coordinates — fully extensible.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New card types added in under 10 minutes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without any programming knowledge required.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Tesseract 4.1 with LSTM neural networks for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substantially improved character-level accuracy.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Built-in regex validation automatically flags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OCR results that don't match expected formats.</a:t>
            </a:r>
          </a:p>
        </p:txBody>
      </p:sp>
      <p:pic>
        <p:nvPicPr>
          <p:cNvPr id="7" name="Picture 6" descr="ocr_extraction_1775276975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Facial Recognition: FaceNet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128-dimensional embedding-based identity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Pre-trained FaceNet on VGGFace2 dataset 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millions of facial images for robust performance.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Converts facial images into 128-D mathematical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embeddings where similar faces cluster together.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Calibrated similarity threshold at 0.6 — balancing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security (2.1% FAR) against usability (3.7% FRR).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98.2% accuracy validated on Labelled Faces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in the Wild (LFW) benchmark dataset.</a:t>
            </a:r>
          </a:p>
        </p:txBody>
      </p:sp>
      <p:pic>
        <p:nvPicPr>
          <p:cNvPr id="7" name="Picture 6" descr="face_matching_1775276992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Two-Tier Anti-Spoofing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Multi-layered defense against fraudulent reproductions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Tier 1 — Frequency Domain Analysis: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Uses Fourier Transform to detect printer grid patterns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and halftone screening artifacts invisible to the human eye.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Tier 2 — Passive Liveness Detection: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Applies Local Binary Patterns (LBP) to differentiate real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human skin micro-textures from photographic reproductions.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Combined efficacy: 85.8% detection of fraud attempts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with only 4.2% false positive rate on genuine cards.</a:t>
            </a:r>
          </a:p>
        </p:txBody>
      </p:sp>
      <p:pic>
        <p:nvPicPr>
          <p:cNvPr id="7" name="Picture 6" descr="anti_spoofing_177527744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Experimental 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Comprehensive testing across multiple operational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D4FF"/>
                </a:solidFill>
                <a:latin typeface="Segoe UI"/>
              </a:rPr>
              <a:t>98.4%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Indoor detection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A90D9"/>
                </a:solidFill>
                <a:latin typeface="Segoe UI"/>
              </a:rPr>
              <a:t>92.0%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Challenging outdoor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79"/>
            <a:ext cx="731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C3AED"/>
                </a:solidFill>
                <a:latin typeface="Segoe UI"/>
              </a:rPr>
              <a:t>94.2%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OCR text extraction 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Segoe UI"/>
              </a:rPr>
              <a:t>98.2%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Face recognition (LFW benchmark)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85.8%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Anti-spoofing detection rate</a:t>
            </a:r>
          </a:p>
        </p:txBody>
      </p:sp>
      <p:pic>
        <p:nvPicPr>
          <p:cNvPr id="21" name="Picture 20" descr="results_chart_17752774639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57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Processing Speed &amp; 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Performance vs. commercial and baseline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89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Our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Cloud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OpenCV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1078992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Detection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96.8%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97.5%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84.3%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10789920" cy="50292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OCR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94.2%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96.1%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87.1%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20439"/>
            <a:ext cx="1078992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66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Processing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566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25–30 FPS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Network-dependent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66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15–20 FPS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69079"/>
            <a:ext cx="10789920" cy="50292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14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Internet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114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No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14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Yes 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114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No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Hardware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Standard 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Cloud +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Standard PC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66360"/>
            <a:ext cx="10789920" cy="50292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Anti-Spoofing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/>
              </a:rPr>
              <a:t>85.8%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Varies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Real-World Field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Two-week pilot at Nandha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847 student verifications processed during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the college registration period.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92.3% automated verification success rate 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782 students verified without manual intervention.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Average processing time: 1.9 seconds per student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(vs. 90–180 seconds for manual inspection).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▸  Only 1.5% true technical failures requiring rescan.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    Estimated 8.5 hours of staff time saved.</a:t>
            </a:r>
          </a:p>
        </p:txBody>
      </p:sp>
      <p:pic>
        <p:nvPicPr>
          <p:cNvPr id="7" name="Picture 6" descr="field_deployment_177527748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731520"/>
            <a:ext cx="2133295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133295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Demonstrated a highly accurate, fully offline, and affordable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    verification pipeline running on generic hardware.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Template-based OCR architecture allows rapid system expansion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    without programming — new cards added in under 10 minutes.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Multi-layer anti-spoofing identifies 85.8% of fraud attempts.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Upgrade to Transformer-based OCR architectures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    for enhanced text recognition accuracy.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Implement 3D depth analysis for advanced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    anti-spoofing beyond texture analysis.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▸  Community-contributed JSON templates for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    expanded international card format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303520"/>
            <a:ext cx="4876495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Thank You — Questions Welcome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dharunraju7@gmail.com  •  vmnithwin@gmail.com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